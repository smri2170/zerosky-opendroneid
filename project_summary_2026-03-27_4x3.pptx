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4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91919"/>
                </a:solidFill>
                <a:latin typeface="Hiragino Sans"/>
              </a:defRPr>
            </a:pPr>
            <a:r>
              <a:t>UAV安全距離証明アプリ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64646"/>
                </a:solidFill>
                <a:latin typeface="Hiragino Sans"/>
              </a:defRPr>
            </a:pPr>
            <a:r>
              <a:t>実装・統合・検証の要約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222222"/>
                </a:solidFill>
                <a:latin typeface="Hiragino Sans"/>
              </a:defRPr>
            </a:pPr>
            <a:r>
              <a:t>・Circom / Groth16 / rapidsnark 基盤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222222"/>
                </a:solidFill>
                <a:latin typeface="Hiragino Sans"/>
              </a:defRPr>
            </a:pPr>
            <a:r>
              <a:t>・Flutter / BLE / GPS / 気圧センサー統合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222222"/>
                </a:solidFill>
                <a:latin typeface="Hiragino Sans"/>
              </a:defRPr>
            </a:pPr>
            <a:r>
              <a:t>・動画証拠・ML Kit・YOLO 拡張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4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  <a:latin typeface="Hiragino Sans"/>
              </a:defRPr>
            </a:pPr>
            <a:r>
              <a:t>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2011680" cy="36576"/>
          </a:xfrm>
          <a:prstGeom prst="rect">
            <a:avLst/>
          </a:prstGeom>
          <a:solidFill>
            <a:srgbClr val="C4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・30m以内・5秒以内の接近判定回路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・スマホ内での証明生成・検証フロー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・UAVログと第三者端末ログの統合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・研究ユースケース寄りUI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Hiragino San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4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  <a:latin typeface="Hiragino Sans"/>
              </a:defRPr>
            </a:pPr>
            <a:r>
              <a:t>ZKP基盤実装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2011680" cy="36576"/>
          </a:xfrm>
          <a:prstGeom prst="rect">
            <a:avLst/>
          </a:prstGeom>
          <a:solidFill>
            <a:srgbClr val="C4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・緯度・経度・高度・時刻入力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・平面近似3次元距離判定回路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・Groth16 セットアップ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・.wcd / .zkey / verification key 生成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・witness長不一致の解消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Hiragino Sa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4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  <a:latin typeface="Hiragino Sans"/>
              </a:defRPr>
            </a:pPr>
            <a:r>
              <a:t>アプリ統合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2011680" cy="36576"/>
          </a:xfrm>
          <a:prstGeom prst="rect">
            <a:avLst/>
          </a:prstGeom>
          <a:solidFill>
            <a:srgbClr val="C4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・Flutter から witness 計算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・rapidsnark による証明生成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・端末内での検証実行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・成功結果・公開信号表示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・Pixel 8 実機動作確認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Hiragino San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4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  <a:latin typeface="Hiragino Sans"/>
              </a:defRPr>
            </a:pPr>
            <a:r>
              <a:t>データ取得拡張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2011680" cy="36576"/>
          </a:xfrm>
          <a:prstGeom prst="rect">
            <a:avLst/>
          </a:prstGeom>
          <a:solidFill>
            <a:srgbClr val="C4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・GPS による第三者位置取得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・気圧センサーによる高度推定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・BLE によるUAVテレメトリ受信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・ドローン側ログ自動入力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・スマホ完結フロー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Hiragino Sa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4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  <a:latin typeface="Hiragino Sans"/>
              </a:defRPr>
            </a:pPr>
            <a:r>
              <a:t>証拠・検知機能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2011680" cy="36576"/>
          </a:xfrm>
          <a:prstGeom prst="rect">
            <a:avLst/>
          </a:prstGeom>
          <a:solidFill>
            <a:srgbClr val="C4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・BLE受信後の動画撮影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・撮影時刻とZKP入力の対応付け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・ML Kit による軽量動画解析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・YOLO ライブ検知画面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・UAV専用モデル差し替え前提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Hiragino San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4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1C1C"/>
                </a:solidFill>
                <a:latin typeface="Hiragino Sans"/>
              </a:defRPr>
            </a:pPr>
            <a:r>
              <a:t>成果と残課題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2011680" cy="36576"/>
          </a:xfrm>
          <a:prstGeom prst="rect">
            <a:avLst/>
          </a:prstGeom>
          <a:solidFill>
            <a:srgbClr val="C4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・証明生成・検証の端末内成立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・UAV受信から証明までの構成完成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・実機E2E疎通の最終確認待ち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・Raspberry Pi BLE 実運用確認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22222"/>
                </a:solidFill>
                <a:latin typeface="Hiragino Sans"/>
              </a:defRPr>
            </a:pPr>
            <a:r>
              <a:t>・UAV専用検知モデルの高精度化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Hiragino San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